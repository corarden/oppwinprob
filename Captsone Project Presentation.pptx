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88825" cy="6858000"/>
  <p:notesSz cx="6858000" cy="9144000"/>
  <p:embeddedFontLst>
    <p:embeddedFont>
      <p:font typeface="Helvetica Neue" panose="020B0604020202020204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OLiTuVMLgXP55ZkezqohNiUcp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9a0fe565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29a0fe5654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9a0fe565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329a0fe565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9a0fe5654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g329a0fe5654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9a0fe565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29a0fe5654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6D420A5-6A2A-CCBC-1646-37FFFFCF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9a0fe5654_0_30:notes">
            <a:extLst>
              <a:ext uri="{FF2B5EF4-FFF2-40B4-BE49-F238E27FC236}">
                <a16:creationId xmlns:a16="http://schemas.microsoft.com/office/drawing/2014/main" id="{52FF7147-A8AB-B300-CEA9-059587DD9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29a0fe5654_0_30:notes">
            <a:extLst>
              <a:ext uri="{FF2B5EF4-FFF2-40B4-BE49-F238E27FC236}">
                <a16:creationId xmlns:a16="http://schemas.microsoft.com/office/drawing/2014/main" id="{BDCF2466-9065-A3E9-E3E4-9C163D302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140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174A3B8-BDA3-8CD6-A7B7-906351471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9a0fe5654_0_30:notes">
            <a:extLst>
              <a:ext uri="{FF2B5EF4-FFF2-40B4-BE49-F238E27FC236}">
                <a16:creationId xmlns:a16="http://schemas.microsoft.com/office/drawing/2014/main" id="{D71C0842-0F5B-F007-A893-BE45F48080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29a0fe5654_0_30:notes">
            <a:extLst>
              <a:ext uri="{FF2B5EF4-FFF2-40B4-BE49-F238E27FC236}">
                <a16:creationId xmlns:a16="http://schemas.microsoft.com/office/drawing/2014/main" id="{A8D9373C-647B-5384-2946-D0E9B3BA4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252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9a0fe565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063" y="685800"/>
            <a:ext cx="609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29a0fe565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5079" y="-216100"/>
            <a:ext cx="12274027" cy="818268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8"/>
          <p:cNvSpPr txBox="1">
            <a:spLocks noGrp="1"/>
          </p:cNvSpPr>
          <p:nvPr>
            <p:ph type="ctrTitle"/>
          </p:nvPr>
        </p:nvSpPr>
        <p:spPr>
          <a:xfrm>
            <a:off x="415507" y="992767"/>
            <a:ext cx="113580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Helvetica Neue"/>
              <a:buNone/>
              <a:defRPr sz="6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ubTitle" idx="1"/>
          </p:nvPr>
        </p:nvSpPr>
        <p:spPr>
          <a:xfrm>
            <a:off x="415496" y="3778833"/>
            <a:ext cx="113580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 sz="37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400" y="5801100"/>
            <a:ext cx="4372782" cy="10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415496" y="2867800"/>
            <a:ext cx="113580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body" idx="2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415496" y="740800"/>
            <a:ext cx="37431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1"/>
          </p:nvPr>
        </p:nvSpPr>
        <p:spPr>
          <a:xfrm>
            <a:off x="415496" y="1852800"/>
            <a:ext cx="37431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653503" y="600200"/>
            <a:ext cx="84882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/>
          <p:nvPr/>
        </p:nvSpPr>
        <p:spPr>
          <a:xfrm>
            <a:off x="6094475" y="-167"/>
            <a:ext cx="6094500" cy="62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353911" y="1644233"/>
            <a:ext cx="5392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subTitle" idx="1"/>
          </p:nvPr>
        </p:nvSpPr>
        <p:spPr>
          <a:xfrm>
            <a:off x="353911" y="3737433"/>
            <a:ext cx="5392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584352" y="965433"/>
            <a:ext cx="51147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>
            <a:spLocks noGrp="1"/>
          </p:cNvSpPr>
          <p:nvPr>
            <p:ph type="body" idx="1"/>
          </p:nvPr>
        </p:nvSpPr>
        <p:spPr>
          <a:xfrm>
            <a:off x="406132" y="5125467"/>
            <a:ext cx="79965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>
            <a:spLocks noGrp="1"/>
          </p:cNvSpPr>
          <p:nvPr>
            <p:ph type="title" hasCustomPrompt="1"/>
          </p:nvPr>
        </p:nvSpPr>
        <p:spPr>
          <a:xfrm>
            <a:off x="415496" y="1474833"/>
            <a:ext cx="113580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1"/>
          </p:nvPr>
        </p:nvSpPr>
        <p:spPr>
          <a:xfrm>
            <a:off x="415496" y="4202967"/>
            <a:ext cx="113580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O WE ARE">
  <p:cSld name="WHO WE AR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21221" y="7031"/>
            <a:ext cx="2767909" cy="12569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" name="Google Shape;45;p31"/>
          <p:cNvGrpSpPr/>
          <p:nvPr/>
        </p:nvGrpSpPr>
        <p:grpSpPr>
          <a:xfrm>
            <a:off x="0" y="237574"/>
            <a:ext cx="10457429" cy="923140"/>
            <a:chOff x="0" y="211811"/>
            <a:chExt cx="10460567" cy="948854"/>
          </a:xfrm>
        </p:grpSpPr>
        <p:sp>
          <p:nvSpPr>
            <p:cNvPr id="46" name="Google Shape;46;p31"/>
            <p:cNvSpPr/>
            <p:nvPr/>
          </p:nvSpPr>
          <p:spPr>
            <a:xfrm>
              <a:off x="9527267" y="213865"/>
              <a:ext cx="933300" cy="946800"/>
            </a:xfrm>
            <a:prstGeom prst="rtTriangle">
              <a:avLst/>
            </a:pr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31"/>
            <p:cNvSpPr/>
            <p:nvPr/>
          </p:nvSpPr>
          <p:spPr>
            <a:xfrm>
              <a:off x="0" y="211811"/>
              <a:ext cx="9527400" cy="94860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" name="Google Shape;48;p31"/>
          <p:cNvSpPr txBox="1">
            <a:spLocks noGrp="1"/>
          </p:cNvSpPr>
          <p:nvPr>
            <p:ph type="title"/>
          </p:nvPr>
        </p:nvSpPr>
        <p:spPr>
          <a:xfrm>
            <a:off x="564062" y="233327"/>
            <a:ext cx="8724600" cy="9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/>
          <p:nvPr/>
        </p:nvSpPr>
        <p:spPr>
          <a:xfrm>
            <a:off x="0" y="6563973"/>
            <a:ext cx="12189300" cy="2949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1"/>
          <p:cNvSpPr txBox="1"/>
          <p:nvPr/>
        </p:nvSpPr>
        <p:spPr>
          <a:xfrm>
            <a:off x="4950140" y="6571670"/>
            <a:ext cx="7070100" cy="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Carnegie Mellon University </a:t>
            </a:r>
            <a:r>
              <a:rPr lang="en" sz="9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School of Computer Science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31"/>
          <p:cNvGrpSpPr/>
          <p:nvPr/>
        </p:nvGrpSpPr>
        <p:grpSpPr>
          <a:xfrm>
            <a:off x="10025284" y="233327"/>
            <a:ext cx="2027373" cy="936741"/>
            <a:chOff x="10031381" y="211811"/>
            <a:chExt cx="2027981" cy="936741"/>
          </a:xfrm>
        </p:grpSpPr>
        <p:sp>
          <p:nvSpPr>
            <p:cNvPr id="52" name="Google Shape;52;p31"/>
            <p:cNvSpPr txBox="1"/>
            <p:nvPr/>
          </p:nvSpPr>
          <p:spPr>
            <a:xfrm>
              <a:off x="10031381" y="211811"/>
              <a:ext cx="1955400" cy="29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WHO WE ARE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31"/>
            <p:cNvSpPr txBox="1"/>
            <p:nvPr/>
          </p:nvSpPr>
          <p:spPr>
            <a:xfrm>
              <a:off x="10336687" y="552280"/>
              <a:ext cx="1473300" cy="2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WHAT WE DO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1"/>
            <p:cNvSpPr txBox="1"/>
            <p:nvPr/>
          </p:nvSpPr>
          <p:spPr>
            <a:xfrm>
              <a:off x="10586062" y="878252"/>
              <a:ext cx="1473300" cy="27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HOW TO ENGAGE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/>
          <p:nvPr/>
        </p:nvSpPr>
        <p:spPr>
          <a:xfrm>
            <a:off x="-47788" y="6271500"/>
            <a:ext cx="12284400" cy="632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121875" tIns="121875" rIns="121875" bIns="121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7"/>
          <p:cNvSpPr txBox="1">
            <a:spLocks noGrp="1"/>
          </p:cNvSpPr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Helvetica Neue"/>
              <a:buNone/>
              <a:defRPr sz="37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Helvetica Neue"/>
              <a:buNone/>
              <a:defRPr sz="37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Helvetica Neue"/>
              <a:buNone/>
              <a:defRPr sz="37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Helvetica Neue"/>
              <a:buNone/>
              <a:defRPr sz="37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Helvetica Neue"/>
              <a:buNone/>
              <a:defRPr sz="37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Helvetica Neue"/>
              <a:buNone/>
              <a:defRPr sz="37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Helvetica Neue"/>
              <a:buNone/>
              <a:defRPr sz="37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Helvetica Neue"/>
              <a:buNone/>
              <a:defRPr sz="37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Helvetica Neue"/>
              <a:buNone/>
              <a:defRPr sz="37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body" idx="1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Char char="●"/>
              <a:defRPr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Helvetica Neue"/>
              <a:buChar char="○"/>
              <a:defRPr sz="19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Helvetica Neue"/>
              <a:buChar char="■"/>
              <a:defRPr sz="19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Helvetica Neue"/>
              <a:buChar char="●"/>
              <a:defRPr sz="19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Helvetica Neue"/>
              <a:buChar char="○"/>
              <a:defRPr sz="19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Helvetica Neue"/>
              <a:buChar char="■"/>
              <a:defRPr sz="19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Helvetica Neue"/>
              <a:buChar char="●"/>
              <a:defRPr sz="19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Helvetica Neue"/>
              <a:buChar char="○"/>
              <a:defRPr sz="19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Helvetica Neue"/>
              <a:buChar char="■"/>
              <a:defRPr sz="19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9" name="Google Shape;9;p17"/>
          <p:cNvPicPr preferRelativeResize="0"/>
          <p:nvPr/>
        </p:nvPicPr>
        <p:blipFill rotWithShape="1">
          <a:blip r:embed="rId14">
            <a:alphaModFix/>
          </a:blip>
          <a:srcRect t="3968" b="3959"/>
          <a:stretch/>
        </p:blipFill>
        <p:spPr>
          <a:xfrm>
            <a:off x="301125" y="6392800"/>
            <a:ext cx="11416515" cy="39006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/>
          </p:nvPr>
        </p:nvSpPr>
        <p:spPr>
          <a:xfrm>
            <a:off x="1031725" y="1253100"/>
            <a:ext cx="11358000" cy="3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en" sz="5400" dirty="0"/>
              <a:t>Interactive Opportunity Probability Calculator</a:t>
            </a:r>
            <a:br>
              <a:rPr lang="en" sz="5000" dirty="0"/>
            </a:br>
            <a:endParaRPr sz="4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en" sz="3200" dirty="0"/>
              <a:t>Christian O’Rarden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9a0fe5654_0_3"/>
          <p:cNvSpPr txBox="1"/>
          <p:nvPr/>
        </p:nvSpPr>
        <p:spPr>
          <a:xfrm>
            <a:off x="2364300" y="2364300"/>
            <a:ext cx="9018600" cy="1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g329a0fe5654_0_3"/>
          <p:cNvSpPr txBox="1">
            <a:spLocks noGrp="1"/>
          </p:cNvSpPr>
          <p:nvPr>
            <p:ph type="title"/>
          </p:nvPr>
        </p:nvSpPr>
        <p:spPr>
          <a:xfrm>
            <a:off x="415498" y="212375"/>
            <a:ext cx="5328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" sz="3000" dirty="0">
                <a:solidFill>
                  <a:srgbClr val="980000"/>
                </a:solidFill>
              </a:rPr>
              <a:t>MVP Overview</a:t>
            </a:r>
            <a:endParaRPr sz="3000" dirty="0">
              <a:solidFill>
                <a:srgbClr val="980000"/>
              </a:solidFill>
            </a:endParaRPr>
          </a:p>
        </p:txBody>
      </p:sp>
      <p:sp>
        <p:nvSpPr>
          <p:cNvPr id="66" name="Google Shape;66;g329a0fe5654_0_3"/>
          <p:cNvSpPr txBox="1"/>
          <p:nvPr/>
        </p:nvSpPr>
        <p:spPr>
          <a:xfrm>
            <a:off x="583413" y="1319400"/>
            <a:ext cx="11022000" cy="331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 lang="en-US" dirty="0"/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Allow users to input/select Primary Keys (PMF, Decision Maker, Proposal Addressee, GP%, Estimated Revenue)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Pull historical performance data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Provide win probability for new opportunities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Deliver a simple web UI embedded into Salesforce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Start with CSV data, then move to live Salesforce integration</a:t>
            </a:r>
          </a:p>
        </p:txBody>
      </p:sp>
      <p:pic>
        <p:nvPicPr>
          <p:cNvPr id="67" name="Google Shape;67;g329a0fe5654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0125" y="235175"/>
            <a:ext cx="3058125" cy="4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9a0fe5654_0_16"/>
          <p:cNvSpPr txBox="1"/>
          <p:nvPr/>
        </p:nvSpPr>
        <p:spPr>
          <a:xfrm>
            <a:off x="2364300" y="2364300"/>
            <a:ext cx="9018600" cy="1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g329a0fe5654_0_16"/>
          <p:cNvSpPr txBox="1">
            <a:spLocks noGrp="1"/>
          </p:cNvSpPr>
          <p:nvPr>
            <p:ph type="title"/>
          </p:nvPr>
        </p:nvSpPr>
        <p:spPr>
          <a:xfrm>
            <a:off x="415498" y="212375"/>
            <a:ext cx="5328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" sz="3000" dirty="0">
                <a:solidFill>
                  <a:srgbClr val="980000"/>
                </a:solidFill>
              </a:rPr>
              <a:t>Technologies Used</a:t>
            </a:r>
            <a:endParaRPr sz="3000" dirty="0">
              <a:solidFill>
                <a:srgbClr val="980000"/>
              </a:solidFill>
            </a:endParaRPr>
          </a:p>
        </p:txBody>
      </p:sp>
      <p:sp>
        <p:nvSpPr>
          <p:cNvPr id="74" name="Google Shape;74;g329a0fe5654_0_16"/>
          <p:cNvSpPr txBox="1"/>
          <p:nvPr/>
        </p:nvSpPr>
        <p:spPr>
          <a:xfrm>
            <a:off x="583413" y="1319400"/>
            <a:ext cx="11022000" cy="3362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lvl="2" indent="-285750" algn="l" rtl="0"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PostgreSQL: stores historical data and predictions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Python: data cleaning, feature engineering, and prediction model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Java: backend API services to connect UI and DB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HTML/CSS: web interface for input and results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Salesforce: main platform where users interact (widget/app)</a:t>
            </a:r>
          </a:p>
          <a:p>
            <a:pPr marL="228600" lvl="2" indent="-165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Helvetica Neue"/>
              <a:buChar char="●"/>
            </a:pPr>
            <a:endParaRPr sz="1700" b="1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5" name="Google Shape;75;g329a0fe5654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0125" y="235175"/>
            <a:ext cx="3058125" cy="4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9a0fe5654_0_23"/>
          <p:cNvSpPr txBox="1"/>
          <p:nvPr/>
        </p:nvSpPr>
        <p:spPr>
          <a:xfrm>
            <a:off x="2364300" y="2364300"/>
            <a:ext cx="9018600" cy="1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g329a0fe5654_0_23"/>
          <p:cNvSpPr txBox="1">
            <a:spLocks noGrp="1"/>
          </p:cNvSpPr>
          <p:nvPr>
            <p:ph type="title"/>
          </p:nvPr>
        </p:nvSpPr>
        <p:spPr>
          <a:xfrm>
            <a:off x="415498" y="212375"/>
            <a:ext cx="5328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" sz="3000" dirty="0">
                <a:solidFill>
                  <a:srgbClr val="980000"/>
                </a:solidFill>
              </a:rPr>
              <a:t>Timeline (Epics)</a:t>
            </a:r>
            <a:endParaRPr sz="3000" dirty="0">
              <a:solidFill>
                <a:srgbClr val="980000"/>
              </a:solidFill>
            </a:endParaRPr>
          </a:p>
        </p:txBody>
      </p:sp>
      <p:sp>
        <p:nvSpPr>
          <p:cNvPr id="82" name="Google Shape;82;g329a0fe5654_0_23"/>
          <p:cNvSpPr txBox="1"/>
          <p:nvPr/>
        </p:nvSpPr>
        <p:spPr>
          <a:xfrm>
            <a:off x="583413" y="1319400"/>
            <a:ext cx="11022000" cy="3547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980000"/>
                </a:solidFill>
                <a:latin typeface="Helvetica Neue"/>
              </a:rPr>
              <a:t>Phase 0 (1 week): Setup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Confirm key fields, map Salesforce fields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sz="2200" b="1" dirty="0">
              <a:solidFill>
                <a:srgbClr val="980000"/>
              </a:solidFill>
              <a:latin typeface="Helvetica Neue"/>
            </a:endParaRPr>
          </a:p>
          <a:p>
            <a:pPr>
              <a:buSzPts val="1700"/>
            </a:pPr>
            <a:r>
              <a:rPr lang="en-US" sz="2200" b="1" dirty="0">
                <a:solidFill>
                  <a:srgbClr val="980000"/>
                </a:solidFill>
                <a:latin typeface="Helvetica Neue"/>
              </a:rPr>
              <a:t>Phase 1 (2 weeks): Prototype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CSV import, basic model, simple UI design and testing</a:t>
            </a:r>
          </a:p>
          <a:p>
            <a:pPr>
              <a:buSzPts val="1700"/>
            </a:pPr>
            <a:endParaRPr lang="en-US" sz="2200" b="1" dirty="0">
              <a:solidFill>
                <a:srgbClr val="980000"/>
              </a:solidFill>
              <a:latin typeface="Helvetica Neue"/>
            </a:endParaRPr>
          </a:p>
          <a:p>
            <a:pPr lvl="2">
              <a:buSzPts val="1700"/>
            </a:pPr>
            <a:r>
              <a:rPr lang="en-US" sz="2200" b="1" dirty="0">
                <a:solidFill>
                  <a:srgbClr val="980000"/>
                </a:solidFill>
                <a:latin typeface="Helvetica Neue"/>
              </a:rPr>
              <a:t>Phase 2 (3 weeks): API &amp; Enhanced UI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dk2"/>
                </a:solidFill>
                <a:latin typeface="Helvetica Neue"/>
              </a:rPr>
              <a:t>Java backend, polished web app UX/UI design and functionality testing</a:t>
            </a:r>
          </a:p>
        </p:txBody>
      </p:sp>
      <p:pic>
        <p:nvPicPr>
          <p:cNvPr id="83" name="Google Shape;83;g329a0fe5654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0125" y="235175"/>
            <a:ext cx="3058125" cy="4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9a0fe5654_0_30"/>
          <p:cNvSpPr txBox="1"/>
          <p:nvPr/>
        </p:nvSpPr>
        <p:spPr>
          <a:xfrm>
            <a:off x="2364300" y="2364300"/>
            <a:ext cx="9018600" cy="1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g329a0fe5654_0_30"/>
          <p:cNvSpPr txBox="1">
            <a:spLocks noGrp="1"/>
          </p:cNvSpPr>
          <p:nvPr>
            <p:ph type="title"/>
          </p:nvPr>
        </p:nvSpPr>
        <p:spPr>
          <a:xfrm>
            <a:off x="415498" y="212375"/>
            <a:ext cx="5328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" sz="3000" dirty="0">
                <a:solidFill>
                  <a:srgbClr val="980000"/>
                </a:solidFill>
              </a:rPr>
              <a:t>User Stories</a:t>
            </a:r>
            <a:endParaRPr sz="3000" dirty="0">
              <a:solidFill>
                <a:srgbClr val="980000"/>
              </a:solidFill>
            </a:endParaRPr>
          </a:p>
        </p:txBody>
      </p:sp>
      <p:sp>
        <p:nvSpPr>
          <p:cNvPr id="90" name="Google Shape;90;g329a0fe5654_0_30"/>
          <p:cNvSpPr txBox="1"/>
          <p:nvPr/>
        </p:nvSpPr>
        <p:spPr>
          <a:xfrm>
            <a:off x="583413" y="1319400"/>
            <a:ext cx="11022000" cy="2569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" sz="1700" b="1" dirty="0">
                <a:solidFill>
                  <a:schemeClr val="dk2"/>
                </a:solidFill>
                <a:latin typeface="Helvetica Neue"/>
                <a:sym typeface="Helvetica Neue"/>
              </a:rPr>
              <a:t>As a Reltaionship Manager, I can enter project details and see a win probability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" sz="1700" b="1" dirty="0">
                <a:solidFill>
                  <a:schemeClr val="dk2"/>
                </a:solidFill>
                <a:latin typeface="Helvetica Neue"/>
                <a:sym typeface="Helvetica Neue"/>
              </a:rPr>
              <a:t>As a Manager, I can view historical win rate by Primary Keys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" sz="1700" b="1" dirty="0">
                <a:solidFill>
                  <a:schemeClr val="dk2"/>
                </a:solidFill>
                <a:latin typeface="Helvetica Neue"/>
                <a:sym typeface="Helvetica Neue"/>
              </a:rPr>
              <a:t>As a User, I can access the tool directly inside of Salesforce</a:t>
            </a:r>
          </a:p>
          <a:p>
            <a:pPr marL="349250" lvl="2" indent="-285750">
              <a:spcBef>
                <a:spcPts val="2100"/>
              </a:spcBef>
              <a:buClr>
                <a:schemeClr val="dk2"/>
              </a:buClr>
              <a:buSzPts val="1700"/>
              <a:buFont typeface="Arial" panose="020B0604020202020204" pitchFamily="34" charset="0"/>
              <a:buChar char="•"/>
            </a:pPr>
            <a:r>
              <a:rPr lang="en" sz="1700" b="1" dirty="0">
                <a:solidFill>
                  <a:schemeClr val="dk2"/>
                </a:solidFill>
                <a:latin typeface="Helvetica Neue"/>
                <a:sym typeface="Helvetica Neue"/>
              </a:rPr>
              <a:t>As a System, I can automatically syn data from Salesforce to Postgres</a:t>
            </a:r>
            <a:endParaRPr sz="1700" b="1" dirty="0">
              <a:solidFill>
                <a:schemeClr val="dk2"/>
              </a:solidFill>
              <a:latin typeface="Helvetica Neue"/>
              <a:sym typeface="Helvetica Neue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1" name="Google Shape;91;g329a0fe5654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0125" y="235175"/>
            <a:ext cx="3058125" cy="4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D9F059E-BC24-C5EA-F4FC-CA08C63DE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9a0fe5654_0_30">
            <a:extLst>
              <a:ext uri="{FF2B5EF4-FFF2-40B4-BE49-F238E27FC236}">
                <a16:creationId xmlns:a16="http://schemas.microsoft.com/office/drawing/2014/main" id="{FEE16C2A-3B52-6BBD-98E7-D5F6C8AF1D00}"/>
              </a:ext>
            </a:extLst>
          </p:cNvPr>
          <p:cNvSpPr txBox="1"/>
          <p:nvPr/>
        </p:nvSpPr>
        <p:spPr>
          <a:xfrm>
            <a:off x="2364300" y="2364300"/>
            <a:ext cx="9018600" cy="1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g329a0fe5654_0_30">
            <a:extLst>
              <a:ext uri="{FF2B5EF4-FFF2-40B4-BE49-F238E27FC236}">
                <a16:creationId xmlns:a16="http://schemas.microsoft.com/office/drawing/2014/main" id="{9F37BC77-685D-72D1-DA30-1AD9D9F73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498" y="212375"/>
            <a:ext cx="5328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" sz="3000" dirty="0">
                <a:solidFill>
                  <a:srgbClr val="980000"/>
                </a:solidFill>
              </a:rPr>
              <a:t>System Architecture (MVP)</a:t>
            </a:r>
            <a:endParaRPr sz="3000" dirty="0">
              <a:solidFill>
                <a:srgbClr val="980000"/>
              </a:solidFill>
            </a:endParaRPr>
          </a:p>
        </p:txBody>
      </p:sp>
      <p:pic>
        <p:nvPicPr>
          <p:cNvPr id="91" name="Google Shape;91;g329a0fe5654_0_30">
            <a:extLst>
              <a:ext uri="{FF2B5EF4-FFF2-40B4-BE49-F238E27FC236}">
                <a16:creationId xmlns:a16="http://schemas.microsoft.com/office/drawing/2014/main" id="{07A994C2-C0AB-CF2A-72E9-2B3EB5B3026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0125" y="235175"/>
            <a:ext cx="3058125" cy="4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60821D-D998-7424-625A-8EF9CAF76AE3}"/>
              </a:ext>
            </a:extLst>
          </p:cNvPr>
          <p:cNvSpPr/>
          <p:nvPr/>
        </p:nvSpPr>
        <p:spPr>
          <a:xfrm>
            <a:off x="2509325" y="2364300"/>
            <a:ext cx="1828800" cy="9144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Salesforce (Widget)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061D3B-71EE-2C53-F387-34DB03A647AB}"/>
              </a:ext>
            </a:extLst>
          </p:cNvPr>
          <p:cNvSpPr/>
          <p:nvPr/>
        </p:nvSpPr>
        <p:spPr>
          <a:xfrm>
            <a:off x="2509325" y="4010220"/>
            <a:ext cx="1828800" cy="914400"/>
          </a:xfrm>
          <a:prstGeom prst="rect">
            <a:avLst/>
          </a:prstGeom>
          <a:solidFill>
            <a:srgbClr val="33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Web UI (HTML/CSS)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9BEFAB-A60B-0FEB-F782-6F599D69CEAC}"/>
              </a:ext>
            </a:extLst>
          </p:cNvPr>
          <p:cNvSpPr/>
          <p:nvPr/>
        </p:nvSpPr>
        <p:spPr>
          <a:xfrm>
            <a:off x="5252525" y="3278700"/>
            <a:ext cx="1828800" cy="914400"/>
          </a:xfrm>
          <a:prstGeom prst="rect">
            <a:avLst/>
          </a:prstGeom>
          <a:solidFill>
            <a:srgbClr val="0099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Java Backend (API)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F252D9-327A-A705-C3D4-CB28FCF20805}"/>
              </a:ext>
            </a:extLst>
          </p:cNvPr>
          <p:cNvSpPr/>
          <p:nvPr/>
        </p:nvSpPr>
        <p:spPr>
          <a:xfrm>
            <a:off x="7995725" y="2364300"/>
            <a:ext cx="1828800" cy="914400"/>
          </a:xfrm>
          <a:prstGeom prst="rect">
            <a:avLst/>
          </a:prstGeom>
          <a:solidFill>
            <a:srgbClr val="CC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Python (Model &amp; ETL)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54C816-E27A-13B2-D90E-EEB94F899502}"/>
              </a:ext>
            </a:extLst>
          </p:cNvPr>
          <p:cNvSpPr/>
          <p:nvPr/>
        </p:nvSpPr>
        <p:spPr>
          <a:xfrm>
            <a:off x="7995725" y="4193100"/>
            <a:ext cx="1828800" cy="914400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Postgres DB</a:t>
            </a:r>
          </a:p>
        </p:txBody>
      </p:sp>
      <p:cxnSp>
        <p:nvCxnSpPr>
          <p:cNvPr id="7" name="Connector 7">
            <a:extLst>
              <a:ext uri="{FF2B5EF4-FFF2-40B4-BE49-F238E27FC236}">
                <a16:creationId xmlns:a16="http://schemas.microsoft.com/office/drawing/2014/main" id="{6C0881B6-DF0A-0FF9-DBF6-FBBC79A190E1}"/>
              </a:ext>
            </a:extLst>
          </p:cNvPr>
          <p:cNvCxnSpPr>
            <a:stCxn id="2" idx="2"/>
            <a:endCxn id="4" idx="1"/>
          </p:cNvCxnSpPr>
          <p:nvPr/>
        </p:nvCxnSpPr>
        <p:spPr>
          <a:xfrm>
            <a:off x="3423725" y="3278700"/>
            <a:ext cx="1828800" cy="4572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8">
            <a:extLst>
              <a:ext uri="{FF2B5EF4-FFF2-40B4-BE49-F238E27FC236}">
                <a16:creationId xmlns:a16="http://schemas.microsoft.com/office/drawing/2014/main" id="{150F939E-AB75-F221-F3B4-0F371D540342}"/>
              </a:ext>
            </a:extLst>
          </p:cNvPr>
          <p:cNvCxnSpPr>
            <a:stCxn id="3" idx="2"/>
            <a:endCxn id="4" idx="1"/>
          </p:cNvCxnSpPr>
          <p:nvPr/>
        </p:nvCxnSpPr>
        <p:spPr>
          <a:xfrm flipV="1">
            <a:off x="3423725" y="3735900"/>
            <a:ext cx="1828800" cy="11887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9">
            <a:extLst>
              <a:ext uri="{FF2B5EF4-FFF2-40B4-BE49-F238E27FC236}">
                <a16:creationId xmlns:a16="http://schemas.microsoft.com/office/drawing/2014/main" id="{DED63F17-D6A1-927D-4C7E-76954A8ED447}"/>
              </a:ext>
            </a:extLst>
          </p:cNvPr>
          <p:cNvCxnSpPr>
            <a:stCxn id="4" idx="2"/>
            <a:endCxn id="5" idx="1"/>
          </p:cNvCxnSpPr>
          <p:nvPr/>
        </p:nvCxnSpPr>
        <p:spPr>
          <a:xfrm flipV="1">
            <a:off x="6166925" y="2821500"/>
            <a:ext cx="1828800" cy="13716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0">
            <a:extLst>
              <a:ext uri="{FF2B5EF4-FFF2-40B4-BE49-F238E27FC236}">
                <a16:creationId xmlns:a16="http://schemas.microsoft.com/office/drawing/2014/main" id="{F64E14DE-0702-8826-1D29-621204E9473E}"/>
              </a:ext>
            </a:extLst>
          </p:cNvPr>
          <p:cNvCxnSpPr>
            <a:stCxn id="4" idx="2"/>
            <a:endCxn id="6" idx="1"/>
          </p:cNvCxnSpPr>
          <p:nvPr/>
        </p:nvCxnSpPr>
        <p:spPr>
          <a:xfrm>
            <a:off x="6166925" y="4193100"/>
            <a:ext cx="1828800" cy="4572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1">
            <a:extLst>
              <a:ext uri="{FF2B5EF4-FFF2-40B4-BE49-F238E27FC236}">
                <a16:creationId xmlns:a16="http://schemas.microsoft.com/office/drawing/2014/main" id="{EFF4E7BD-36AD-381A-BDAE-8683CAC35BD2}"/>
              </a:ext>
            </a:extLst>
          </p:cNvPr>
          <p:cNvCxnSpPr>
            <a:stCxn id="5" idx="2"/>
            <a:endCxn id="6" idx="1"/>
          </p:cNvCxnSpPr>
          <p:nvPr/>
        </p:nvCxnSpPr>
        <p:spPr>
          <a:xfrm flipH="1">
            <a:off x="7995725" y="3278700"/>
            <a:ext cx="914400" cy="13716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377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41F63E63-C3C9-A841-5462-871D180B8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9a0fe5654_0_30">
            <a:extLst>
              <a:ext uri="{FF2B5EF4-FFF2-40B4-BE49-F238E27FC236}">
                <a16:creationId xmlns:a16="http://schemas.microsoft.com/office/drawing/2014/main" id="{059667BF-A7D3-2259-9886-14091D21A206}"/>
              </a:ext>
            </a:extLst>
          </p:cNvPr>
          <p:cNvSpPr txBox="1"/>
          <p:nvPr/>
        </p:nvSpPr>
        <p:spPr>
          <a:xfrm>
            <a:off x="2364300" y="2364300"/>
            <a:ext cx="9018600" cy="1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g329a0fe5654_0_30">
            <a:extLst>
              <a:ext uri="{FF2B5EF4-FFF2-40B4-BE49-F238E27FC236}">
                <a16:creationId xmlns:a16="http://schemas.microsoft.com/office/drawing/2014/main" id="{2A8DA29D-E1A0-AFB6-14FB-EF143CF037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498" y="212375"/>
            <a:ext cx="5328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" sz="3000" dirty="0">
                <a:solidFill>
                  <a:srgbClr val="980000"/>
                </a:solidFill>
              </a:rPr>
              <a:t>MVP Timeline</a:t>
            </a:r>
            <a:endParaRPr sz="3000" dirty="0">
              <a:solidFill>
                <a:srgbClr val="980000"/>
              </a:solidFill>
            </a:endParaRPr>
          </a:p>
        </p:txBody>
      </p:sp>
      <p:pic>
        <p:nvPicPr>
          <p:cNvPr id="91" name="Google Shape;91;g329a0fe5654_0_30">
            <a:extLst>
              <a:ext uri="{FF2B5EF4-FFF2-40B4-BE49-F238E27FC236}">
                <a16:creationId xmlns:a16="http://schemas.microsoft.com/office/drawing/2014/main" id="{7AAF5B9C-099C-84CB-6C2B-545554CEEB1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0125" y="235175"/>
            <a:ext cx="3058125" cy="4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E7B5C21-318D-2D1D-CDA8-B14174C4F92D}"/>
              </a:ext>
            </a:extLst>
          </p:cNvPr>
          <p:cNvSpPr/>
          <p:nvPr/>
        </p:nvSpPr>
        <p:spPr>
          <a:xfrm>
            <a:off x="1346005" y="2364300"/>
            <a:ext cx="1645920" cy="9144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Phase 0</a:t>
            </a:r>
          </a:p>
          <a:p>
            <a:r>
              <a:rPr dirty="0"/>
              <a:t>Setup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03581F-F38B-FF1D-2A29-A16FC37E176E}"/>
              </a:ext>
            </a:extLst>
          </p:cNvPr>
          <p:cNvSpPr/>
          <p:nvPr/>
        </p:nvSpPr>
        <p:spPr>
          <a:xfrm>
            <a:off x="3174805" y="2364300"/>
            <a:ext cx="1645920" cy="914400"/>
          </a:xfrm>
          <a:prstGeom prst="rect">
            <a:avLst/>
          </a:prstGeom>
          <a:solidFill>
            <a:srgbClr val="33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Phase 1</a:t>
            </a:r>
          </a:p>
          <a:p>
            <a:r>
              <a:t>Prototype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57742-52C7-2F32-0EA1-6583376D870B}"/>
              </a:ext>
            </a:extLst>
          </p:cNvPr>
          <p:cNvSpPr/>
          <p:nvPr/>
        </p:nvSpPr>
        <p:spPr>
          <a:xfrm>
            <a:off x="5003605" y="2364300"/>
            <a:ext cx="1645920" cy="914400"/>
          </a:xfrm>
          <a:prstGeom prst="rect">
            <a:avLst/>
          </a:prstGeom>
          <a:solidFill>
            <a:srgbClr val="0099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Phase 2</a:t>
            </a:r>
          </a:p>
          <a:p>
            <a:r>
              <a:t>API + UI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1AFE8E-0E94-A78E-0609-A266B1511158}"/>
              </a:ext>
            </a:extLst>
          </p:cNvPr>
          <p:cNvSpPr/>
          <p:nvPr/>
        </p:nvSpPr>
        <p:spPr>
          <a:xfrm>
            <a:off x="6832405" y="2364300"/>
            <a:ext cx="1645920" cy="914400"/>
          </a:xfrm>
          <a:prstGeom prst="rect">
            <a:avLst/>
          </a:prstGeom>
          <a:solidFill>
            <a:srgbClr val="CC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Phase 3</a:t>
            </a:r>
          </a:p>
          <a:p>
            <a:r>
              <a:t>Salesforce Integration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037EB5-DCAB-DF74-5FBA-15273A322080}"/>
              </a:ext>
            </a:extLst>
          </p:cNvPr>
          <p:cNvSpPr/>
          <p:nvPr/>
        </p:nvSpPr>
        <p:spPr>
          <a:xfrm>
            <a:off x="8661205" y="2364300"/>
            <a:ext cx="1645920" cy="914400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Phase 4</a:t>
            </a:r>
          </a:p>
          <a:p>
            <a: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2771439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9a0fe5654_0_37"/>
          <p:cNvSpPr txBox="1">
            <a:spLocks noGrp="1"/>
          </p:cNvSpPr>
          <p:nvPr>
            <p:ph type="title"/>
          </p:nvPr>
        </p:nvSpPr>
        <p:spPr>
          <a:xfrm>
            <a:off x="3430273" y="3047250"/>
            <a:ext cx="5328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" sz="4300">
                <a:solidFill>
                  <a:srgbClr val="980000"/>
                </a:solidFill>
              </a:rPr>
              <a:t>Thank You!</a:t>
            </a:r>
            <a:endParaRPr sz="4300">
              <a:solidFill>
                <a:srgbClr val="980000"/>
              </a:solidFill>
            </a:endParaRPr>
          </a:p>
        </p:txBody>
      </p:sp>
      <p:sp>
        <p:nvSpPr>
          <p:cNvPr id="97" name="Google Shape;97;g329a0fe5654_0_37"/>
          <p:cNvSpPr txBox="1"/>
          <p:nvPr/>
        </p:nvSpPr>
        <p:spPr>
          <a:xfrm>
            <a:off x="583413" y="1319400"/>
            <a:ext cx="11022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8" name="Google Shape;98;g329a0fe5654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0125" y="235175"/>
            <a:ext cx="3058125" cy="4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279</Words>
  <Application>Microsoft Office PowerPoint</Application>
  <PresentationFormat>Custom</PresentationFormat>
  <Paragraphs>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Helvetica Neue</vt:lpstr>
      <vt:lpstr>Open Sans</vt:lpstr>
      <vt:lpstr>Calibri</vt:lpstr>
      <vt:lpstr>Simple Light</vt:lpstr>
      <vt:lpstr>   Interactive Opportunity Probability Calculator  Christian O’Rarden</vt:lpstr>
      <vt:lpstr>MVP Overview</vt:lpstr>
      <vt:lpstr>Technologies Used</vt:lpstr>
      <vt:lpstr>Timeline (Epics)</vt:lpstr>
      <vt:lpstr>User Stories</vt:lpstr>
      <vt:lpstr>System Architecture (MVP)</vt:lpstr>
      <vt:lpstr>MVP Timeline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Christian O'Rarden</dc:creator>
  <cp:lastModifiedBy>Christian O'Rarden</cp:lastModifiedBy>
  <cp:revision>2</cp:revision>
  <dcterms:modified xsi:type="dcterms:W3CDTF">2025-08-19T01:31:16Z</dcterms:modified>
</cp:coreProperties>
</file>